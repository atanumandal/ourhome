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1A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388620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8" y="0"/>
            <a:ext cx="6099048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5B4FC"/>
                </a:solidFill>
                <a:latin typeface="Segoe UI"/>
              </a:rPr>
              <a:t>OurHome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Azure Monthly Cost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D0"/>
                </a:solidFill>
                <a:latin typeface="Segoe UI"/>
              </a:rPr>
              <a:t>Deployment cost projections across Starter, Growing, and Scale scenarios
for 2–50 societies with 200–1,000 apartments 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4572000"/>
            <a:ext cx="1371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Segoe UI"/>
              </a:rPr>
              <a:t>~$19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5230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Starter / 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4572000"/>
            <a:ext cx="1371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Segoe UI"/>
              </a:rPr>
              <a:t>~$151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230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Growing / 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0" y="4572000"/>
            <a:ext cx="13716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44200" y="47091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6F1"/>
                </a:solidFill>
                <a:latin typeface="Segoe UI"/>
              </a:rPr>
              <a:t>~$636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523036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Scale /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June 2025  ·  Azure pay-as-you-go  ·  Central India region  ·  All prices in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Architecture &amp; Azure Services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1488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033271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Azure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Consumption plan, .NET 8 isolated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5059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237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APIM Consumption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API gateway, rate limiting, SSL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1005840"/>
            <a:ext cx="214884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033271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4328" y="14447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5768" y="1517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Cosmos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185623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Serverless, /societyId partitioned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4328" y="245059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25237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Blob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862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Photos, proofs, SPA hosting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82896" y="1005840"/>
            <a:ext cx="21488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1033271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Eventing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2896" y="14447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1517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Event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185623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Outbox pattern, CloudEvents 1.0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82896" y="245059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74336" y="25237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App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2862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Structured logs + 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41464" y="1005840"/>
            <a:ext cx="2148840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8" y="1033271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Comms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1464" y="14447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1517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ACS SMS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185623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OTP + visitor share-pass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41464" y="245059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2904" y="25237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ACS 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2904" y="2862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Receipts + notifications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00032" y="1005840"/>
            <a:ext cx="21488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1033271"/>
            <a:ext cx="2039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Security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00032" y="144475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1517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Key Vault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185623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JWT key, Cosmos &amp; ACS secrets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00032" y="245059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25237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VAPID Push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286207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Browser push (free)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74920"/>
            <a:ext cx="1138428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1663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Segoe UI"/>
              </a:rPr>
              <a:t>Frontend: Angular 17 PWA — hosted on Blob $web container + Azure CDN. Cached assets served from CDN; API calls go through APIM.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9 Azure services · Clean Architecture + CQRS · Multi-tenant (/societyId partition key)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Modelling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9669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Users / Apartment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9669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2.5 residents on average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960120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99669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Daily Active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99669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15% of total registered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81328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5179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API Calls / Active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51790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12 calls per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481328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5179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Avg Cosmos RU /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51790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~80 RU (mixed reads + writes)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02536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0391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Azure Function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0391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512 MB · 250 ms avg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002536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0391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Blob Storage / Apartment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0391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~5 files × 200 KB per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23744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6032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OTP SMS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56032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5% of total users request OTP per 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23744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256032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ACS SMS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256032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$0.04 / message (India via ACS)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44951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081527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ACS Email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081527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$0.00025 / email sent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1928" y="3044951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3081527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Push 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081527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Browser VAPID — zero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66159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602735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602735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Central India Azure region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1928" y="3566159"/>
            <a:ext cx="57332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3602735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Segoe UI"/>
              </a:rPr>
              <a:t>Pricing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3602735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Pay-as-you-go / Serverless (no reserved capacity)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760720"/>
            <a:ext cx="11384280" cy="658368"/>
          </a:xfrm>
          <a:prstGeom prst="rect">
            <a:avLst/>
          </a:prstGeom>
          <a:solidFill>
            <a:srgbClr val="FEFCE8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815584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13F12"/>
                </a:solidFill>
                <a:latin typeface="Segoe UI"/>
              </a:rPr>
              <a:t>💡  Switching OTP SMS from ACS ($0.04/msg) to an Indian provider such as MSG91 or Textlocal ($0.003–0.005/msg)
    reduces SMS costs by 85–90%, dropping total monthly bills to roughly $10 / $82 / $389 for the three 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Monthly Cost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FC"/>
                </a:solidFill>
                <a:latin typeface="Segoe UI"/>
              </a:rPr>
              <a:t>Three representative deployment tiers based on number of societies and apartments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749039" cy="5349240"/>
          </a:xfrm>
          <a:prstGeom prst="rect">
            <a:avLst/>
          </a:prstGeom>
          <a:solidFill>
            <a:srgbClr val="1E1B4B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88720" cy="274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2 – 5 Societies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Segoe UI"/>
              </a:rPr>
              <a:t>200–500 apts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Apartments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968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7744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968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~3,750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API Calls/mo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9125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~203K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7180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Cosmos RUs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19125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~16M 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6616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Blob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85615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~18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56616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SMS/mo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785615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~250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56048"/>
            <a:ext cx="34747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109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366F1"/>
                </a:solidFill>
                <a:latin typeface="Segoe UI"/>
              </a:rPr>
              <a:t>$18.59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/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143000"/>
            <a:ext cx="3749039" cy="5349240"/>
          </a:xfrm>
          <a:prstGeom prst="rect">
            <a:avLst/>
          </a:prstGeom>
          <a:solidFill>
            <a:srgbClr val="2E1B5C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1298448"/>
            <a:ext cx="11887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3167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GROWING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1664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10 – 20 Societies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029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Segoe UI"/>
              </a:rPr>
              <a:t>500–700 apts 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37744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Apartments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5968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~12,000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37744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5968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~30,000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97180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API Calls/mo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19125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~1.62M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97180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Cosmos RUs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19125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~130M RU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56616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Blob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785615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~144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56616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SMS/mo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785615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~1,900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4956048"/>
            <a:ext cx="34747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50109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  <a:latin typeface="Segoe UI"/>
              </a:rPr>
              <a:t>$150.54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/ month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143000"/>
            <a:ext cx="3749039" cy="5349240"/>
          </a:xfrm>
          <a:prstGeom prst="rect">
            <a:avLst/>
          </a:prstGeom>
          <a:solidFill>
            <a:srgbClr val="432010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66760" y="1298448"/>
            <a:ext cx="1188720" cy="274320"/>
          </a:xfrm>
          <a:prstGeom prst="rect">
            <a:avLst/>
          </a:prstGeom>
          <a:solidFill>
            <a:srgbClr val="FB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13167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1664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30 – 50 Societies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029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EC0"/>
                </a:solidFill>
                <a:latin typeface="Segoe UI"/>
              </a:rPr>
              <a:t>700–1000 apts each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237744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Apartments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25968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~42,500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237744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Users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25968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~106,000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97180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API Calls/mo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319125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~5.74M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297180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Cosmos RUs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319125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~459M RU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356616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Blob Storage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785615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~510 GB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3566160"/>
            <a:ext cx="1691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SMS/mo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3785615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~6,800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66760" y="4956048"/>
            <a:ext cx="347472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60" y="50109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Segoe UI"/>
              </a:rPr>
              <a:t>$634.50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5596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/ month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All prices in USD · Azure pay-as-you-go pricing · Central India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Detailed Service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9784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Azure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9784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Pricing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2552" y="978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Segoe U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97840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Segoe UI"/>
              </a:rPr>
              <a:t>Growing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1472" y="97840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44168"/>
            <a:ext cx="11521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39903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Azure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139903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$0.20/M exec · $0.000016/GB-s · 1M+400K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139903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139903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$0.12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139903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$3.78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55648"/>
            <a:ext cx="11521440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18105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Cosmos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2" y="181051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$0.25/M RU · $0.25/GB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181051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$5.86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18105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Segoe UI"/>
              </a:rPr>
              <a:t>$46.50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18105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Segoe UI"/>
              </a:rPr>
              <a:t>$165.80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167128"/>
            <a:ext cx="11521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2219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Blob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222199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$0.018/GB hot · $0.005/10K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2221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$0.74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222199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$2.86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22199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$9.56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578608"/>
            <a:ext cx="11521440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" y="26334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Event 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263347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100K ops free/mo · $0.60/M beyond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26334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26334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6334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90088"/>
            <a:ext cx="11521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" y="30449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Key Vault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7752" y="304495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$0.03/10K transactions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2" y="30449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$1.00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0449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$1.00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30449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$2.00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401568"/>
            <a:ext cx="11521440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345643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App Insights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7752" y="345643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5 GB free/mo · $2.30/GB beyond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552" y="345643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4152" y="345643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345643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$6.90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813048"/>
            <a:ext cx="11521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38679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ACS — SMS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87752" y="386791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$0.04/message (India via ACS)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2552" y="386791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$9.50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4152" y="38679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Segoe UI"/>
              </a:rPr>
              <a:t>$76.00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1472" y="386791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Segoe UI"/>
              </a:rPr>
              <a:t>$272.80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224528"/>
            <a:ext cx="11521440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" y="42793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ACS — Email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87752" y="427939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$0.00025/email sent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02552" y="42793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74152" y="427939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91472" y="427939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$2.00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636008"/>
            <a:ext cx="11521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" y="46908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APIM (Consumption)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7752" y="469087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1M calls free/mo · $3.50/100K beyond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02552" y="469087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74152" y="46908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Segoe UI"/>
              </a:rPr>
              <a:t>$21.70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469087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F4444"/>
                </a:solidFill>
                <a:latin typeface="Segoe UI"/>
              </a:rPr>
              <a:t>$165.90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047488"/>
            <a:ext cx="11521440" cy="4023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" y="51023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F172A"/>
                </a:solidFill>
                <a:latin typeface="Segoe UI"/>
              </a:rPr>
              <a:t>Azure CDN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87752" y="510235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</a:rPr>
              <a:t>$0.087/GB outbound (South Asia)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02552" y="510235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$0.44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74152" y="51023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$1.74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91472" y="51023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Segoe UI"/>
              </a:rPr>
              <a:t>$5.22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458968"/>
            <a:ext cx="115214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552297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MONTHLY TOTAL (USD)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02552" y="55229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6F1"/>
                </a:solidFill>
                <a:latin typeface="Segoe UI"/>
              </a:rPr>
              <a:t>~$18.59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74152" y="552297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B5CF6"/>
                </a:solidFill>
                <a:latin typeface="Segoe UI"/>
              </a:rPr>
              <a:t>~$150.54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91472" y="552297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Segoe UI"/>
              </a:rPr>
              <a:t>~$634.50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Cost Composition — Scale Scenario ($634.50/mo)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ACS 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09728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$272.80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14300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0" y="1143000"/>
            <a:ext cx="7315200" cy="228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01400" y="109728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C4899"/>
                </a:solidFill>
                <a:latin typeface="Segoe UI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APIM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64592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$165.90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69164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691640"/>
            <a:ext cx="4448649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01400" y="164592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  <a:latin typeface="Segoe UI"/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Cosmos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19456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$165.80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224028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2240280"/>
            <a:ext cx="4445968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01400" y="219456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8B5CF6"/>
                </a:solidFill>
                <a:latin typeface="Segoe U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4320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App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74320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$6.90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278892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4760" y="2788920"/>
            <a:ext cx="185025" cy="228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01400" y="274320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9184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Blob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29184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$9.56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33756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3337560"/>
            <a:ext cx="256353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01400" y="329184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EA5E9"/>
                </a:solidFill>
                <a:latin typeface="Segoe UI"/>
              </a:rPr>
              <a:t>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84048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Azure Functions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84048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$3.78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388620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94760" y="3886200"/>
            <a:ext cx="101361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01400" y="384048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6F1"/>
                </a:solidFill>
                <a:latin typeface="Segoe UI"/>
              </a:rPr>
              <a:t>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38912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Azure CDN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389120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$5.22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4434840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94760" y="4434840"/>
            <a:ext cx="139975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01400" y="438912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6B6D4"/>
                </a:solidFill>
                <a:latin typeface="Segoe UI"/>
              </a:rPr>
              <a:t>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937759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Other services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937759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$5.54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94760" y="4983479"/>
            <a:ext cx="73152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4983479"/>
            <a:ext cx="148556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01400" y="4937759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CBD5E1"/>
                </a:solidFill>
                <a:latin typeface="Segoe UI"/>
              </a:rPr>
              <a:t>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33872"/>
            <a:ext cx="1138428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888736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65F46"/>
                </a:solidFill>
                <a:latin typeface="Segoe UI"/>
              </a:rPr>
              <a:t>💡  Replacing ACS SMS with a local Indian provider (MSG91/Textlocal at ~$0.004/msg) saves ~$248/mo on SMS alone — reducing
     the Scale total from ~$635 to ~$389/mo. SMS is the single highest-impact optimisation across all three tiers.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Scenario Comparison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FC"/>
                </a:solidFill>
                <a:latin typeface="Segoe UI"/>
              </a:rPr>
              <a:t>Total monthly spend vs. scale multipliers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3063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A5B4FC"/>
                </a:solidFill>
                <a:latin typeface="Segoe U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1556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5B4FC"/>
                </a:solidFill>
                <a:latin typeface="Segoe UI"/>
              </a:rPr>
              <a:t>Starter
(2–5 soc.)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11556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5B4FC"/>
                </a:solidFill>
                <a:latin typeface="Segoe UI"/>
              </a:rPr>
              <a:t>Growing
(10–20 soc.)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11556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5B4FC"/>
                </a:solidFill>
                <a:latin typeface="Segoe UI"/>
              </a:rPr>
              <a:t>Scale
(30–50 soc.)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114300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3677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Total Societies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63677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2–5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63677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10–20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163677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30–50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84248"/>
            <a:ext cx="11430000" cy="402336"/>
          </a:xfrm>
          <a:prstGeom prst="rect">
            <a:avLst/>
          </a:prstGeom>
          <a:solidFill>
            <a:srgbClr val="16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48255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Apartments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048255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~1,500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048255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~12,000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048255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~42,500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95728"/>
            <a:ext cx="114300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5973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Registered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4597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~3,750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4597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~30,000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4597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~106,000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07208"/>
            <a:ext cx="11430000" cy="402336"/>
          </a:xfrm>
          <a:prstGeom prst="rect">
            <a:avLst/>
          </a:prstGeom>
          <a:solidFill>
            <a:srgbClr val="16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87121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Monthly API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87121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~203K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7121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~1.62M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287121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~5.74M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18688"/>
            <a:ext cx="114300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8269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Cosmos DB RUs /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28269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~16M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28269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~130M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328269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~459M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630168"/>
            <a:ext cx="11430000" cy="402336"/>
          </a:xfrm>
          <a:prstGeom prst="rect">
            <a:avLst/>
          </a:prstGeom>
          <a:solidFill>
            <a:srgbClr val="1A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69417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TOTAL (ACS SMS)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69417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366F1"/>
                </a:solidFill>
                <a:latin typeface="Segoe UI"/>
              </a:rPr>
              <a:t>$18.59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369417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Segoe UI"/>
              </a:rPr>
              <a:t>$150.54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369417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Segoe UI"/>
              </a:rPr>
              <a:t>$634.50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41648"/>
            <a:ext cx="11430000" cy="402336"/>
          </a:xfrm>
          <a:prstGeom prst="rect">
            <a:avLst/>
          </a:prstGeom>
          <a:solidFill>
            <a:srgbClr val="1A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0565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TOTAL (local SMS)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10565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366F1"/>
                </a:solidFill>
                <a:latin typeface="Segoe UI"/>
              </a:rPr>
              <a:t>~$10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410565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5CF6"/>
                </a:solidFill>
                <a:latin typeface="Segoe UI"/>
              </a:rPr>
              <a:t>~$82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19" y="410565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Segoe UI"/>
              </a:rPr>
              <a:t>~$389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53128"/>
            <a:ext cx="11430000" cy="402336"/>
          </a:xfrm>
          <a:prstGeom prst="rect">
            <a:avLst/>
          </a:prstGeom>
          <a:solidFill>
            <a:srgbClr val="16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51713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Cost / Apartment /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5171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~$0.012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59" y="45171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~$0.013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19" y="45171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~$0.015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864608"/>
            <a:ext cx="11430000" cy="40233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92861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Growth vs Starter (cost)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492861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1×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59" y="492861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~8×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19" y="492861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~34×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276088"/>
            <a:ext cx="11430000" cy="402336"/>
          </a:xfrm>
          <a:prstGeom prst="rect">
            <a:avLst/>
          </a:prstGeom>
          <a:solidFill>
            <a:srgbClr val="16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34009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C3D0"/>
                </a:solidFill>
                <a:latin typeface="Segoe UI"/>
              </a:rPr>
              <a:t>Growth vs Starter (scale)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34009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1×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59" y="534009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~8×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534009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Segoe UI"/>
              </a:rPr>
              <a:t>~28×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Scale tier cost grows ~34× from Starter, while user count grows ~28× — near-linear scaling with slight overhead from APIM tiers.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Cost Optimisation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7332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73152" cy="1508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292608" cy="2926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430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Replace ACS SMS with Indian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5074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Switch OTP/share-pass SMS from ACS ($0.04/msg) to MSG91 or Textlocal ($0.003–0.005/msg).
Savings: 85–90% of SMS costs. Biggest single saving available.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005840"/>
            <a:ext cx="57332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00584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14300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430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Push Notifications over SMS for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463040"/>
            <a:ext cx="5074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Visitor alerts, notice posts, complaint updates → use browser VAPID push (already implemented, cost = $0).
Reserve SMS only for login OTP.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7332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73152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2788920"/>
            <a:ext cx="292608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7889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Tune Cosmos DB Index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08960"/>
            <a:ext cx="5074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Audit indexes per container. Use composite indexes on (societyId, status, date).
Exclude unused fields from indexing to cut write RU costs 15–30%.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2651760"/>
            <a:ext cx="57332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2651760"/>
            <a:ext cx="73152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788920"/>
            <a:ext cx="292608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7889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Evaluate APIM Standard v2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108960"/>
            <a:ext cx="5074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At 5.74M calls/mo, Consumption APIM ≈ $166. Standard v2 ($250 flat) breaks even at ~8M calls/mo.
Review when Growing→Scale transition occurs.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7680"/>
            <a:ext cx="57332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297680"/>
            <a:ext cx="73152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" y="4434840"/>
            <a:ext cx="292608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4348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Archive Old Blob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54880"/>
            <a:ext cx="5074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Move visitor photos and payment proofs &gt;12 months to Blob Archive ($0.002/GB vs $0.018/GB hot).
Estimated saving: 80–90% on aged storage.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4297680"/>
            <a:ext cx="57332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1928" y="429768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4434840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43484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0568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Cap Application Insights Ingestion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4754880"/>
            <a:ext cx="5074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Set a daily data cap in App Insights. Sampling is configured in host.json.
Exclude health-probe and status-check log entries to stay within the 5 GB free tier.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Priority order: SMS provider swap (immediate) → Push-first notifications → Cosmos index tuning → Blob archiving → APIM tier review → App Insights cap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Important Notes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Estimates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Actual costs depend on real usage patterns, Azure region pricing, and promotional credits. Use the Azure Pricing Calculator for live quotes before committing to any budget.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005840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09728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Azure Free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389888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New Azure accounts receive a $200 credit and 12-month free tier. The Starter scenario may cost $0 in the first few months under free-tier limits.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No Reserved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79776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These estimates use pay-as-you-go / Serverless pricing. Reserved capacity for Cosmos DB Provisioned Throughput could cut DB costs by 30–60% at predictable scale but requires upfront commitment and traffic forecasting.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2395728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8716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SMS Cost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79776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SMS is the single largest cost driver at all tiers. The estimates above use ACS India pricing ($0.04/msg). Switching to a local aggregator reduces these costs by 85–90%.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770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Payment Gateway not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966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Razorpay/Stripe processing fees (0.5–2% per transaction) are not included. These are future-phase costs defined in recurring_fee_payment.md requirements.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3785616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77056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Support Plan not included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169664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Azure support plans ($29–$300/mo depending on tier) are not part of this estimate.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75504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6694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APIM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59552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APIM Consumption tier (included here) has no monthly fixed cost but charges per call. Consider Standard v2 ($250/mo flat) once call volume exceeds ~8M per month to avoid per-call fees.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5175504"/>
            <a:ext cx="5733288" cy="12984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526694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2400E"/>
                </a:solidFill>
                <a:latin typeface="Segoe UI"/>
              </a:rPr>
              <a:t>Data Transfer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5559552"/>
            <a:ext cx="5440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8350F"/>
                </a:solidFill>
                <a:latin typeface="Segoe UI"/>
              </a:rPr>
              <a:t>Internal Azure data transfer between services in the same region is free. CDN egress is included; direct blob-to-internet egress (not via CDN) would cost ~$0.087/GB additional.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5B4FC"/>
                </a:solidFill>
                <a:latin typeface="Segoe UI"/>
              </a:rPr>
              <a:t>OurHome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Azure Cost
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C3D0"/>
                </a:solidFill>
                <a:latin typeface="Segoe UI"/>
              </a:rPr>
              <a:t>Serverless-first architecture enables near-zero cost at low scale with predictable linear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34440"/>
            <a:ext cx="58521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2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366F1"/>
                </a:solidFill>
                <a:latin typeface="Segoe UI"/>
              </a:rPr>
              <a:t>$19/mo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C3D0"/>
                </a:solidFill>
                <a:latin typeface="Segoe UI"/>
              </a:rPr>
              <a:t>Starter — 2–5 societies,
~1,500 apts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560320"/>
            <a:ext cx="58521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B5CF6"/>
                </a:solidFill>
                <a:latin typeface="Segoe UI"/>
              </a:rPr>
              <a:t>$151/mo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79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C3D0"/>
                </a:solidFill>
                <a:latin typeface="Segoe UI"/>
              </a:rPr>
              <a:t>Growing — 10–20 societies,
~12,000 apts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886200"/>
            <a:ext cx="58521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39776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Segoe UI"/>
              </a:rPr>
              <a:t>$636/mo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233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C3D0"/>
                </a:solidFill>
                <a:latin typeface="Segoe UI"/>
              </a:rPr>
              <a:t>Scale — 30–50 societies,
~42,500 apts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5212080"/>
            <a:ext cx="585216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5303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0B981"/>
                </a:solidFill>
                <a:latin typeface="Segoe UI"/>
              </a:rPr>
              <a:t>~85%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4924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C3D0"/>
                </a:solidFill>
                <a:latin typeface="Segoe UI"/>
              </a:rPr>
              <a:t>SMS cost savings possible
with local 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Estimates as of June 2025 · Azure pay-as-you-go pricing · Central India region · All amounts in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